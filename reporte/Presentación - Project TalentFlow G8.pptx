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Open Sans Bold" charset="1" panose="020B0806030504020204"/>
      <p:regular r:id="rId23"/>
    </p:embeddedFont>
    <p:embeddedFont>
      <p:font typeface="League Spartan" charset="1" panose="00000800000000000000"/>
      <p:regular r:id="rId24"/>
    </p:embeddedFont>
    <p:embeddedFont>
      <p:font typeface="Open Sans" charset="1" panose="020B0606030504020204"/>
      <p:regular r:id="rId25"/>
    </p:embeddedFont>
    <p:embeddedFont>
      <p:font typeface="Barlow Medium" charset="1" panose="00000600000000000000"/>
      <p:regular r:id="rId26"/>
    </p:embeddedFont>
    <p:embeddedFont>
      <p:font typeface="Be Vietnam Ultra-Bold" charset="1" panose="00000900000000000000"/>
      <p:regular r:id="rId27"/>
    </p:embeddedFont>
    <p:embeddedFont>
      <p:font typeface="Open Sans Ultra-Bold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https://aulavirtual.espol.edu.ec/courses/34716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3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2" Target="../media/image7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52267"/>
            <a:ext cx="16230600" cy="8382465"/>
            <a:chOff x="0" y="0"/>
            <a:chExt cx="6045684" cy="3122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5684" cy="3122357"/>
            </a:xfrm>
            <a:custGeom>
              <a:avLst/>
              <a:gdLst/>
              <a:ahLst/>
              <a:cxnLst/>
              <a:rect r="r" b="b" t="t" l="l"/>
              <a:pathLst>
                <a:path h="3122357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118001" y="1688159"/>
            <a:ext cx="491457" cy="480734"/>
          </a:xfrm>
          <a:custGeom>
            <a:avLst/>
            <a:gdLst/>
            <a:ahLst/>
            <a:cxnLst/>
            <a:rect r="r" b="b" t="t" l="l"/>
            <a:pathLst>
              <a:path h="480734" w="491457">
                <a:moveTo>
                  <a:pt x="0" y="0"/>
                </a:moveTo>
                <a:lnTo>
                  <a:pt x="491457" y="0"/>
                </a:lnTo>
                <a:lnTo>
                  <a:pt x="491457" y="480735"/>
                </a:lnTo>
                <a:lnTo>
                  <a:pt x="0" y="4807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FF9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FF9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solidFill>
              <a:srgbClr val="782A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solidFill>
              <a:srgbClr val="782A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740151" y="5972243"/>
            <a:ext cx="9979783" cy="3206175"/>
          </a:xfrm>
          <a:custGeom>
            <a:avLst/>
            <a:gdLst/>
            <a:ahLst/>
            <a:cxnLst/>
            <a:rect r="r" b="b" t="t" l="l"/>
            <a:pathLst>
              <a:path h="3206175" w="9979783">
                <a:moveTo>
                  <a:pt x="0" y="0"/>
                </a:moveTo>
                <a:lnTo>
                  <a:pt x="9979783" y="0"/>
                </a:lnTo>
                <a:lnTo>
                  <a:pt x="9979783" y="3206174"/>
                </a:lnTo>
                <a:lnTo>
                  <a:pt x="0" y="32061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118001" y="5067300"/>
            <a:ext cx="922408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Grupo 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39274" y="3154789"/>
            <a:ext cx="11119114" cy="537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5"/>
              </a:lnSpc>
            </a:pPr>
            <a:r>
              <a:rPr lang="en-US" sz="3601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PEOPLE ANALYTICS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63730" y="2349849"/>
            <a:ext cx="11823972" cy="94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8"/>
              </a:lnSpc>
            </a:pPr>
            <a:r>
              <a:rPr lang="en-US" sz="62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TALENTFLOW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92124" y="1773904"/>
            <a:ext cx="5392207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2" indent="-183516" lvl="1">
              <a:lnSpc>
                <a:spcPts val="2380"/>
              </a:lnSpc>
              <a:buFont typeface="Arial"/>
              <a:buChar char="•"/>
            </a:pPr>
            <a:r>
              <a:rPr lang="en-US" sz="1700" u="sng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  <a:hlinkClick r:id="rId8" tooltip="https://aulavirtual.espol.edu.ec/courses/34716"/>
              </a:rPr>
              <a:t>CBMP5-PythonforDataAnalytics</a:t>
            </a:r>
          </a:p>
          <a:p>
            <a:pPr algn="l">
              <a:lnSpc>
                <a:spcPts val="238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118001" y="4020862"/>
            <a:ext cx="11119114" cy="1480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701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ANÁLISIS DE ROTACIÓN LABORAL Y FACTORES QUE INCIDEN EN LA PERMANENCIA O SALIDA DE EMPLEADOS.</a:t>
            </a:r>
          </a:p>
          <a:p>
            <a:pPr algn="l">
              <a:lnSpc>
                <a:spcPts val="535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515035" y="5489862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56632" y="2705082"/>
            <a:ext cx="14574736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Índice de Contenidos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87648" y="4516134"/>
            <a:ext cx="497132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Gaficos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508129" y="4391007"/>
            <a:ext cx="131661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sz="4348" spc="113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08129" y="5426539"/>
            <a:ext cx="1333869" cy="65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sz="4348" spc="3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08129" y="6462071"/>
            <a:ext cx="1333869" cy="65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sz="4348" spc="3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08129" y="7497603"/>
            <a:ext cx="1333869" cy="65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sz="4348" spc="3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98170" y="4391007"/>
            <a:ext cx="1213336" cy="65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sz="4348" spc="3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98170" y="5426539"/>
            <a:ext cx="1213336" cy="65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sz="4348" spc="3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98170" y="6462071"/>
            <a:ext cx="1213336" cy="65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sz="4348" spc="3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98170" y="7497603"/>
            <a:ext cx="1213336" cy="655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18"/>
              </a:lnSpc>
            </a:pPr>
            <a:r>
              <a:rPr lang="en-US" sz="4348" spc="3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18945" y="4516134"/>
            <a:ext cx="417645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Introducción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18945" y="5596249"/>
            <a:ext cx="417645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Analisis general de talento humano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18945" y="6666299"/>
            <a:ext cx="417645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Valores Atipicos encontrados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18945" y="7684572"/>
            <a:ext cx="417645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Valoracion del problema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87648" y="6666299"/>
            <a:ext cx="497132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Recomendaciones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87648" y="7684572"/>
            <a:ext cx="497132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Conclusiones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871465" y="3837736"/>
            <a:ext cx="2163845" cy="3846836"/>
          </a:xfrm>
          <a:custGeom>
            <a:avLst/>
            <a:gdLst/>
            <a:ahLst/>
            <a:cxnLst/>
            <a:rect r="r" b="b" t="t" l="l"/>
            <a:pathLst>
              <a:path h="3846836" w="2163845">
                <a:moveTo>
                  <a:pt x="0" y="0"/>
                </a:moveTo>
                <a:lnTo>
                  <a:pt x="2163846" y="0"/>
                </a:lnTo>
                <a:lnTo>
                  <a:pt x="2163846" y="3846836"/>
                </a:lnTo>
                <a:lnTo>
                  <a:pt x="0" y="38468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7650" t="-822" r="-78406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587648" y="5596249"/>
            <a:ext cx="497132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9"/>
              </a:lnSpc>
            </a:pPr>
            <a:r>
              <a:rPr lang="en-US" sz="21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Acciones a implementar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35934" y="1332450"/>
            <a:ext cx="1533302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9"/>
              </a:lnSpc>
            </a:pPr>
            <a:r>
              <a:rPr lang="en-US" sz="706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35050" y="6494463"/>
            <a:ext cx="8060216" cy="261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1"/>
              </a:lnSpc>
            </a:pPr>
            <a:r>
              <a:rPr lang="en-US" sz="32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desercion laboral es un indicador clave para el área de Recursos Humanos, ya que refleja la estabilidad y satisfacción del personal dentro de la organización.</a:t>
            </a:r>
          </a:p>
          <a:p>
            <a:pPr algn="ctr">
              <a:lnSpc>
                <a:spcPts val="2601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95742" cy="5516950"/>
            </a:xfrm>
            <a:custGeom>
              <a:avLst/>
              <a:gdLst/>
              <a:ahLst/>
              <a:cxnLst/>
              <a:rect r="r" b="b" t="t" l="l"/>
              <a:pathLst>
                <a:path h="5516950" w="1795742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741F8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8662" cy="5516950"/>
            </a:xfrm>
            <a:custGeom>
              <a:avLst/>
              <a:gdLst/>
              <a:ahLst/>
              <a:cxnLst/>
              <a:rect r="r" b="b" t="t" l="l"/>
              <a:pathLst>
                <a:path h="551695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741F8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34114" cy="412775"/>
            </a:xfrm>
            <a:custGeom>
              <a:avLst/>
              <a:gdLst/>
              <a:ahLst/>
              <a:cxnLst/>
              <a:rect r="r" b="b" t="t" l="l"/>
              <a:pathLst>
                <a:path h="412775" w="1234114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10800000">
            <a:off x="14019925" y="-210928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68212" y="2923847"/>
            <a:ext cx="6702947" cy="3336076"/>
          </a:xfrm>
          <a:custGeom>
            <a:avLst/>
            <a:gdLst/>
            <a:ahLst/>
            <a:cxnLst/>
            <a:rect r="r" b="b" t="t" l="l"/>
            <a:pathLst>
              <a:path h="3336076" w="6702947">
                <a:moveTo>
                  <a:pt x="0" y="0"/>
                </a:moveTo>
                <a:lnTo>
                  <a:pt x="6702947" y="0"/>
                </a:lnTo>
                <a:lnTo>
                  <a:pt x="6702947" y="3336077"/>
                </a:lnTo>
                <a:lnTo>
                  <a:pt x="0" y="3336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595266" y="2882753"/>
            <a:ext cx="7664034" cy="4950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5"/>
              </a:lnSpc>
            </a:pPr>
          </a:p>
          <a:p>
            <a:pPr algn="ctr">
              <a:lnSpc>
                <a:spcPts val="4565"/>
              </a:lnSpc>
            </a:pPr>
            <a:r>
              <a:rPr lang="en-US" sz="326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Este analisis busca identificar los principales factores que influyen en la permanencia o salida de empleados. Con esta información, se pretende desarrollar estrategias que fortalezcan la retención del talento y mejoren el compromiso organizacional.</a:t>
            </a:r>
          </a:p>
          <a:p>
            <a:pPr algn="ctr">
              <a:lnSpc>
                <a:spcPts val="302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80359" y="3900644"/>
            <a:ext cx="5178941" cy="5178941"/>
            <a:chOff x="0" y="0"/>
            <a:chExt cx="6905255" cy="69052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05255" cy="6905255"/>
            </a:xfrm>
            <a:custGeom>
              <a:avLst/>
              <a:gdLst/>
              <a:ahLst/>
              <a:cxnLst/>
              <a:rect r="r" b="b" t="t" l="l"/>
              <a:pathLst>
                <a:path h="6905255" w="6905255">
                  <a:moveTo>
                    <a:pt x="0" y="0"/>
                  </a:moveTo>
                  <a:lnTo>
                    <a:pt x="6905255" y="0"/>
                  </a:lnTo>
                  <a:lnTo>
                    <a:pt x="6905255" y="6905255"/>
                  </a:lnTo>
                  <a:lnTo>
                    <a:pt x="0" y="6905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1359954" y="1391739"/>
              <a:ext cx="4028753" cy="4028753"/>
              <a:chOff x="0" y="0"/>
              <a:chExt cx="1247008" cy="124700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47008" cy="1247008"/>
              </a:xfrm>
              <a:custGeom>
                <a:avLst/>
                <a:gdLst/>
                <a:ahLst/>
                <a:cxnLst/>
                <a:rect r="r" b="b" t="t" l="l"/>
                <a:pathLst>
                  <a:path h="1247008" w="1247008">
                    <a:moveTo>
                      <a:pt x="0" y="0"/>
                    </a:moveTo>
                    <a:lnTo>
                      <a:pt x="1247008" y="0"/>
                    </a:lnTo>
                    <a:lnTo>
                      <a:pt x="1247008" y="1247008"/>
                    </a:lnTo>
                    <a:lnTo>
                      <a:pt x="0" y="1247008"/>
                    </a:lnTo>
                    <a:close/>
                  </a:path>
                </a:pathLst>
              </a:custGeom>
              <a:solidFill>
                <a:srgbClr val="EDECE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1247008" cy="1294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sp>
        <p:nvSpPr>
          <p:cNvPr name="TextBox 8" id="8"/>
          <p:cNvSpPr txBox="true"/>
          <p:nvPr/>
        </p:nvSpPr>
        <p:spPr>
          <a:xfrm rot="0">
            <a:off x="2027983" y="1939558"/>
            <a:ext cx="13836513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ANÁLISIS GENERAL DEL TALENTO HUMANO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76446" y="4500364"/>
            <a:ext cx="4090997" cy="483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2"/>
              </a:lnSpc>
            </a:pPr>
            <a:r>
              <a:rPr lang="en-US" sz="288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Presentar resultados sobre rotación, capacitación y desempeño y Proponer estrategias para optimizar la retención y desarrollo del talento humano.</a:t>
            </a:r>
          </a:p>
          <a:p>
            <a:pPr algn="l">
              <a:lnSpc>
                <a:spcPts val="4332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6554529" y="3900644"/>
            <a:ext cx="5178941" cy="5178941"/>
            <a:chOff x="0" y="0"/>
            <a:chExt cx="6905255" cy="69052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05255" cy="6905255"/>
            </a:xfrm>
            <a:custGeom>
              <a:avLst/>
              <a:gdLst/>
              <a:ahLst/>
              <a:cxnLst/>
              <a:rect r="r" b="b" t="t" l="l"/>
              <a:pathLst>
                <a:path h="6905255" w="6905255">
                  <a:moveTo>
                    <a:pt x="0" y="0"/>
                  </a:moveTo>
                  <a:lnTo>
                    <a:pt x="6905255" y="0"/>
                  </a:lnTo>
                  <a:lnTo>
                    <a:pt x="6905255" y="6905255"/>
                  </a:lnTo>
                  <a:lnTo>
                    <a:pt x="0" y="6905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2" id="12"/>
            <p:cNvGrpSpPr/>
            <p:nvPr/>
          </p:nvGrpSpPr>
          <p:grpSpPr>
            <a:xfrm rot="0">
              <a:off x="1359954" y="1391739"/>
              <a:ext cx="4028753" cy="4028753"/>
              <a:chOff x="0" y="0"/>
              <a:chExt cx="1247008" cy="124700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247008" cy="1247008"/>
              </a:xfrm>
              <a:custGeom>
                <a:avLst/>
                <a:gdLst/>
                <a:ahLst/>
                <a:cxnLst/>
                <a:rect r="r" b="b" t="t" l="l"/>
                <a:pathLst>
                  <a:path h="1247008" w="1247008">
                    <a:moveTo>
                      <a:pt x="0" y="0"/>
                    </a:moveTo>
                    <a:lnTo>
                      <a:pt x="1247008" y="0"/>
                    </a:lnTo>
                    <a:lnTo>
                      <a:pt x="1247008" y="1247008"/>
                    </a:lnTo>
                    <a:lnTo>
                      <a:pt x="0" y="1247008"/>
                    </a:lnTo>
                    <a:close/>
                  </a:path>
                </a:pathLst>
              </a:custGeom>
              <a:solidFill>
                <a:srgbClr val="EDECE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1247008" cy="1294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7385865" y="4588659"/>
            <a:ext cx="3516269" cy="399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0"/>
              </a:lnSpc>
            </a:pPr>
            <a:r>
              <a:rPr lang="en-US" sz="307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Identificar posibles Outliers, para identificar fortalezas y áreas de mejora en la gestión del personal.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3900644"/>
            <a:ext cx="5178941" cy="5178941"/>
            <a:chOff x="0" y="0"/>
            <a:chExt cx="6905255" cy="69052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05255" cy="6905255"/>
            </a:xfrm>
            <a:custGeom>
              <a:avLst/>
              <a:gdLst/>
              <a:ahLst/>
              <a:cxnLst/>
              <a:rect r="r" b="b" t="t" l="l"/>
              <a:pathLst>
                <a:path h="6905255" w="6905255">
                  <a:moveTo>
                    <a:pt x="0" y="0"/>
                  </a:moveTo>
                  <a:lnTo>
                    <a:pt x="6905255" y="0"/>
                  </a:lnTo>
                  <a:lnTo>
                    <a:pt x="6905255" y="6905255"/>
                  </a:lnTo>
                  <a:lnTo>
                    <a:pt x="0" y="6905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1359954" y="1391739"/>
              <a:ext cx="4028753" cy="4028753"/>
              <a:chOff x="0" y="0"/>
              <a:chExt cx="1247008" cy="124700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247008" cy="1247008"/>
              </a:xfrm>
              <a:custGeom>
                <a:avLst/>
                <a:gdLst/>
                <a:ahLst/>
                <a:cxnLst/>
                <a:rect r="r" b="b" t="t" l="l"/>
                <a:pathLst>
                  <a:path h="1247008" w="1247008">
                    <a:moveTo>
                      <a:pt x="0" y="0"/>
                    </a:moveTo>
                    <a:lnTo>
                      <a:pt x="1247008" y="0"/>
                    </a:lnTo>
                    <a:lnTo>
                      <a:pt x="1247008" y="1247008"/>
                    </a:lnTo>
                    <a:lnTo>
                      <a:pt x="0" y="1247008"/>
                    </a:lnTo>
                    <a:close/>
                  </a:path>
                </a:pathLst>
              </a:custGeom>
              <a:solidFill>
                <a:srgbClr val="EDECE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247008" cy="1294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1890563" y="4579134"/>
            <a:ext cx="4178192" cy="353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1"/>
              </a:lnSpc>
            </a:pPr>
            <a:r>
              <a:rPr lang="en-US" sz="317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Exploración de la data, evaluar la situación actual del talento humano dentro de la organización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-1052349" y="-3067212"/>
            <a:ext cx="20194657" cy="3895402"/>
            <a:chOff x="0" y="0"/>
            <a:chExt cx="5318757" cy="10259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1875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318758">
                  <a:moveTo>
                    <a:pt x="0" y="0"/>
                  </a:moveTo>
                  <a:lnTo>
                    <a:pt x="5318758" y="0"/>
                  </a:lnTo>
                  <a:lnTo>
                    <a:pt x="531875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9753A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318757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86450" y="-656380"/>
            <a:ext cx="18885647" cy="2875746"/>
            <a:chOff x="0" y="0"/>
            <a:chExt cx="25180863" cy="3834327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36935" r="0" b="36935"/>
            <a:stretch>
              <a:fillRect/>
            </a:stretch>
          </p:blipFill>
          <p:spPr>
            <a:xfrm flipH="false" flipV="false">
              <a:off x="0" y="0"/>
              <a:ext cx="25180863" cy="3834327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-1119743" y="10285618"/>
            <a:ext cx="20527487" cy="2731693"/>
            <a:chOff x="0" y="0"/>
            <a:chExt cx="5406416" cy="7194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06416" cy="719458"/>
            </a:xfrm>
            <a:custGeom>
              <a:avLst/>
              <a:gdLst/>
              <a:ahLst/>
              <a:cxnLst/>
              <a:rect r="r" b="b" t="t" l="l"/>
              <a:pathLst>
                <a:path h="719458" w="5406416">
                  <a:moveTo>
                    <a:pt x="0" y="0"/>
                  </a:moveTo>
                  <a:lnTo>
                    <a:pt x="5406416" y="0"/>
                  </a:lnTo>
                  <a:lnTo>
                    <a:pt x="5406416" y="719458"/>
                  </a:lnTo>
                  <a:lnTo>
                    <a:pt x="0" y="719458"/>
                  </a:lnTo>
                  <a:close/>
                </a:path>
              </a:pathLst>
            </a:custGeom>
            <a:solidFill>
              <a:srgbClr val="C945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5406416" cy="700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651330" y="9561146"/>
            <a:ext cx="19615407" cy="3895402"/>
            <a:chOff x="0" y="0"/>
            <a:chExt cx="5166198" cy="1025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6619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9753A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166198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09404" y="2758162"/>
            <a:ext cx="5714032" cy="4476742"/>
          </a:xfrm>
          <a:custGeom>
            <a:avLst/>
            <a:gdLst/>
            <a:ahLst/>
            <a:cxnLst/>
            <a:rect r="r" b="b" t="t" l="l"/>
            <a:pathLst>
              <a:path h="4476742" w="5714032">
                <a:moveTo>
                  <a:pt x="0" y="0"/>
                </a:moveTo>
                <a:lnTo>
                  <a:pt x="5714032" y="0"/>
                </a:lnTo>
                <a:lnTo>
                  <a:pt x="5714032" y="4476742"/>
                </a:lnTo>
                <a:lnTo>
                  <a:pt x="0" y="4476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23436" y="4541261"/>
            <a:ext cx="5641103" cy="4418864"/>
          </a:xfrm>
          <a:custGeom>
            <a:avLst/>
            <a:gdLst/>
            <a:ahLst/>
            <a:cxnLst/>
            <a:rect r="r" b="b" t="t" l="l"/>
            <a:pathLst>
              <a:path h="4418864" w="5641103">
                <a:moveTo>
                  <a:pt x="0" y="0"/>
                </a:moveTo>
                <a:lnTo>
                  <a:pt x="5641103" y="0"/>
                </a:lnTo>
                <a:lnTo>
                  <a:pt x="5641103" y="4418864"/>
                </a:lnTo>
                <a:lnTo>
                  <a:pt x="0" y="44188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069275" y="2635249"/>
            <a:ext cx="5900328" cy="4599654"/>
          </a:xfrm>
          <a:custGeom>
            <a:avLst/>
            <a:gdLst/>
            <a:ahLst/>
            <a:cxnLst/>
            <a:rect r="r" b="b" t="t" l="l"/>
            <a:pathLst>
              <a:path h="4599654" w="5900328">
                <a:moveTo>
                  <a:pt x="0" y="0"/>
                </a:moveTo>
                <a:lnTo>
                  <a:pt x="5900328" y="0"/>
                </a:lnTo>
                <a:lnTo>
                  <a:pt x="5900328" y="4599655"/>
                </a:lnTo>
                <a:lnTo>
                  <a:pt x="0" y="45996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86450" y="-656380"/>
            <a:ext cx="18885647" cy="2875746"/>
            <a:chOff x="0" y="0"/>
            <a:chExt cx="25180863" cy="3834327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36935" r="0" b="36935"/>
            <a:stretch>
              <a:fillRect/>
            </a:stretch>
          </p:blipFill>
          <p:spPr>
            <a:xfrm flipH="false" flipV="false">
              <a:off x="0" y="0"/>
              <a:ext cx="25180863" cy="3834327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-1119743" y="10285618"/>
            <a:ext cx="20527487" cy="2731693"/>
            <a:chOff x="0" y="0"/>
            <a:chExt cx="5406416" cy="7194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06416" cy="719458"/>
            </a:xfrm>
            <a:custGeom>
              <a:avLst/>
              <a:gdLst/>
              <a:ahLst/>
              <a:cxnLst/>
              <a:rect r="r" b="b" t="t" l="l"/>
              <a:pathLst>
                <a:path h="719458" w="5406416">
                  <a:moveTo>
                    <a:pt x="0" y="0"/>
                  </a:moveTo>
                  <a:lnTo>
                    <a:pt x="5406416" y="0"/>
                  </a:lnTo>
                  <a:lnTo>
                    <a:pt x="5406416" y="719458"/>
                  </a:lnTo>
                  <a:lnTo>
                    <a:pt x="0" y="719458"/>
                  </a:lnTo>
                  <a:close/>
                </a:path>
              </a:pathLst>
            </a:custGeom>
            <a:solidFill>
              <a:srgbClr val="C945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5406416" cy="700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651330" y="9561146"/>
            <a:ext cx="19615407" cy="3895402"/>
            <a:chOff x="0" y="0"/>
            <a:chExt cx="5166198" cy="1025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66198" cy="1025949"/>
            </a:xfrm>
            <a:custGeom>
              <a:avLst/>
              <a:gdLst/>
              <a:ahLst/>
              <a:cxnLst/>
              <a:rect r="r" b="b" t="t" l="l"/>
              <a:pathLst>
                <a:path h="1025949" w="5166198">
                  <a:moveTo>
                    <a:pt x="0" y="0"/>
                  </a:moveTo>
                  <a:lnTo>
                    <a:pt x="5166198" y="0"/>
                  </a:lnTo>
                  <a:lnTo>
                    <a:pt x="5166198" y="1025949"/>
                  </a:lnTo>
                  <a:lnTo>
                    <a:pt x="0" y="1025949"/>
                  </a:lnTo>
                  <a:close/>
                </a:path>
              </a:pathLst>
            </a:custGeom>
            <a:solidFill>
              <a:srgbClr val="9753A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166198" cy="107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47712" y="2747214"/>
            <a:ext cx="8528921" cy="4887728"/>
          </a:xfrm>
          <a:custGeom>
            <a:avLst/>
            <a:gdLst/>
            <a:ahLst/>
            <a:cxnLst/>
            <a:rect r="r" b="b" t="t" l="l"/>
            <a:pathLst>
              <a:path h="4887728" w="8528921">
                <a:moveTo>
                  <a:pt x="0" y="0"/>
                </a:moveTo>
                <a:lnTo>
                  <a:pt x="8528921" y="0"/>
                </a:lnTo>
                <a:lnTo>
                  <a:pt x="8528921" y="4887728"/>
                </a:lnTo>
                <a:lnTo>
                  <a:pt x="0" y="4887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56373" y="2747214"/>
            <a:ext cx="7913225" cy="5192076"/>
          </a:xfrm>
          <a:custGeom>
            <a:avLst/>
            <a:gdLst/>
            <a:ahLst/>
            <a:cxnLst/>
            <a:rect r="r" b="b" t="t" l="l"/>
            <a:pathLst>
              <a:path h="5192076" w="7913225">
                <a:moveTo>
                  <a:pt x="0" y="0"/>
                </a:moveTo>
                <a:lnTo>
                  <a:pt x="7913225" y="0"/>
                </a:lnTo>
                <a:lnTo>
                  <a:pt x="7913225" y="5192077"/>
                </a:lnTo>
                <a:lnTo>
                  <a:pt x="0" y="5192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87146" y="1085850"/>
            <a:ext cx="5972154" cy="5972154"/>
          </a:xfrm>
          <a:custGeom>
            <a:avLst/>
            <a:gdLst/>
            <a:ahLst/>
            <a:cxnLst/>
            <a:rect r="r" b="b" t="t" l="l"/>
            <a:pathLst>
              <a:path h="5972154" w="5972154">
                <a:moveTo>
                  <a:pt x="0" y="0"/>
                </a:moveTo>
                <a:lnTo>
                  <a:pt x="5972154" y="0"/>
                </a:lnTo>
                <a:lnTo>
                  <a:pt x="5972154" y="5972154"/>
                </a:lnTo>
                <a:lnTo>
                  <a:pt x="0" y="59721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388156" y="2199597"/>
            <a:ext cx="3770133" cy="3744660"/>
            <a:chOff x="0" y="0"/>
            <a:chExt cx="5026844" cy="4992879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5"/>
            <a:srcRect l="34443" t="4176" r="1280" b="0"/>
            <a:stretch>
              <a:fillRect/>
            </a:stretch>
          </p:blipFill>
          <p:spPr>
            <a:xfrm flipH="false" flipV="false">
              <a:off x="0" y="0"/>
              <a:ext cx="5026844" cy="4992879"/>
            </a:xfrm>
            <a:prstGeom prst="rect">
              <a:avLst/>
            </a:prstGeom>
          </p:spPr>
        </p:pic>
      </p:grpSp>
      <p:sp>
        <p:nvSpPr>
          <p:cNvPr name="TextBox 6" id="6"/>
          <p:cNvSpPr txBox="true"/>
          <p:nvPr/>
        </p:nvSpPr>
        <p:spPr>
          <a:xfrm rot="0">
            <a:off x="1385161" y="630556"/>
            <a:ext cx="7758839" cy="69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sz="385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 PRINCIPALES HALLAZGOS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1522" y="1643609"/>
            <a:ext cx="9272599" cy="815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6901" indent="-358451" lvl="1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Factores económicos: Se evidencia una percepción de inequidad salarial.</a:t>
            </a:r>
          </a:p>
          <a:p>
            <a:pPr algn="l">
              <a:lnSpc>
                <a:spcPts val="4648"/>
              </a:lnSpc>
              <a:spcBef>
                <a:spcPct val="0"/>
              </a:spcBef>
            </a:pPr>
          </a:p>
          <a:p>
            <a:pPr algn="l" marL="716901" indent="-358451" lvl="1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 Factores de desarrollo: Las oportunidades de ascenso o movilidad interna son limitadas</a:t>
            </a:r>
          </a:p>
          <a:p>
            <a:pPr algn="l">
              <a:lnSpc>
                <a:spcPts val="4648"/>
              </a:lnSpc>
              <a:spcBef>
                <a:spcPct val="0"/>
              </a:spcBef>
            </a:pPr>
          </a:p>
          <a:p>
            <a:pPr algn="l" marL="716901" indent="-358451" lvl="1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Factores de satisfacción: Predominan niveles moderados de satisfacción</a:t>
            </a:r>
          </a:p>
          <a:p>
            <a:pPr algn="l">
              <a:lnSpc>
                <a:spcPts val="4648"/>
              </a:lnSpc>
              <a:spcBef>
                <a:spcPct val="0"/>
              </a:spcBef>
            </a:pPr>
          </a:p>
          <a:p>
            <a:pPr algn="l" marL="716901" indent="-358451" lvl="1">
              <a:lnSpc>
                <a:spcPts val="46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32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 Factores de antigüedad: Los empleados nuevos presentan mayor rotación, mientras que quienes tienen más años en la empresa tienden a permanecer.</a:t>
            </a:r>
          </a:p>
          <a:p>
            <a:pPr algn="ctr">
              <a:lnSpc>
                <a:spcPts val="46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5301" y="346396"/>
            <a:ext cx="17084913" cy="9570812"/>
            <a:chOff x="0" y="0"/>
            <a:chExt cx="6363904" cy="35650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63904" cy="3565001"/>
            </a:xfrm>
            <a:custGeom>
              <a:avLst/>
              <a:gdLst/>
              <a:ahLst/>
              <a:cxnLst/>
              <a:rect r="r" b="b" t="t" l="l"/>
              <a:pathLst>
                <a:path h="3565001" w="6363904">
                  <a:moveTo>
                    <a:pt x="0" y="0"/>
                  </a:moveTo>
                  <a:lnTo>
                    <a:pt x="6363904" y="0"/>
                  </a:lnTo>
                  <a:lnTo>
                    <a:pt x="6363904" y="3565001"/>
                  </a:lnTo>
                  <a:lnTo>
                    <a:pt x="0" y="35650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6363904" cy="3555476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700000">
            <a:off x="-3368672" y="749304"/>
            <a:ext cx="9281939" cy="2794075"/>
            <a:chOff x="0" y="0"/>
            <a:chExt cx="2444626" cy="7358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4626" cy="735888"/>
            </a:xfrm>
            <a:custGeom>
              <a:avLst/>
              <a:gdLst/>
              <a:ahLst/>
              <a:cxnLst/>
              <a:rect r="r" b="b" t="t" l="l"/>
              <a:pathLst>
                <a:path h="735888" w="2444626">
                  <a:moveTo>
                    <a:pt x="0" y="0"/>
                  </a:moveTo>
                  <a:lnTo>
                    <a:pt x="2444626" y="0"/>
                  </a:lnTo>
                  <a:lnTo>
                    <a:pt x="2444626" y="735888"/>
                  </a:lnTo>
                  <a:lnTo>
                    <a:pt x="0" y="735888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444626" cy="783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00000">
            <a:off x="-484140" y="-1874861"/>
            <a:ext cx="6355083" cy="6355083"/>
          </a:xfrm>
          <a:custGeom>
            <a:avLst/>
            <a:gdLst/>
            <a:ahLst/>
            <a:cxnLst/>
            <a:rect r="r" b="b" t="t" l="l"/>
            <a:pathLst>
              <a:path h="6355083" w="6355083">
                <a:moveTo>
                  <a:pt x="0" y="0"/>
                </a:moveTo>
                <a:lnTo>
                  <a:pt x="6355083" y="0"/>
                </a:lnTo>
                <a:lnTo>
                  <a:pt x="6355083" y="6355083"/>
                </a:lnTo>
                <a:lnTo>
                  <a:pt x="0" y="6355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29752" y="3771401"/>
            <a:ext cx="9504640" cy="5288914"/>
          </a:xfrm>
          <a:custGeom>
            <a:avLst/>
            <a:gdLst/>
            <a:ahLst/>
            <a:cxnLst/>
            <a:rect r="r" b="b" t="t" l="l"/>
            <a:pathLst>
              <a:path h="5288914" w="9504640">
                <a:moveTo>
                  <a:pt x="0" y="0"/>
                </a:moveTo>
                <a:lnTo>
                  <a:pt x="9504640" y="0"/>
                </a:lnTo>
                <a:lnTo>
                  <a:pt x="9504640" y="5288913"/>
                </a:lnTo>
                <a:lnTo>
                  <a:pt x="0" y="52889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98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30190" y="923075"/>
            <a:ext cx="16030024" cy="122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8"/>
              </a:lnSpc>
            </a:pPr>
            <a:r>
              <a:rPr lang="en-US" b="true" sz="4600" spc="147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¿CÓMO ESTÁ DISTRIBUIDA </a:t>
            </a:r>
          </a:p>
          <a:p>
            <a:pPr algn="ctr">
              <a:lnSpc>
                <a:spcPts val="4738"/>
              </a:lnSpc>
            </a:pPr>
            <a:r>
              <a:rPr lang="en-US" b="true" sz="4600" spc="147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LA ROTACIÓN LABORAL?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702823" y="3771401"/>
            <a:ext cx="5163459" cy="5348837"/>
            <a:chOff x="0" y="0"/>
            <a:chExt cx="596325" cy="6177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6325" cy="617735"/>
            </a:xfrm>
            <a:custGeom>
              <a:avLst/>
              <a:gdLst/>
              <a:ahLst/>
              <a:cxnLst/>
              <a:rect r="r" b="b" t="t" l="l"/>
              <a:pathLst>
                <a:path h="617735" w="596325">
                  <a:moveTo>
                    <a:pt x="55477" y="0"/>
                  </a:moveTo>
                  <a:lnTo>
                    <a:pt x="540849" y="0"/>
                  </a:lnTo>
                  <a:cubicBezTo>
                    <a:pt x="571488" y="0"/>
                    <a:pt x="596325" y="24838"/>
                    <a:pt x="596325" y="55477"/>
                  </a:cubicBezTo>
                  <a:lnTo>
                    <a:pt x="596325" y="562258"/>
                  </a:lnTo>
                  <a:cubicBezTo>
                    <a:pt x="596325" y="576971"/>
                    <a:pt x="590480" y="591082"/>
                    <a:pt x="580077" y="601486"/>
                  </a:cubicBezTo>
                  <a:cubicBezTo>
                    <a:pt x="569673" y="611890"/>
                    <a:pt x="555562" y="617735"/>
                    <a:pt x="540849" y="617735"/>
                  </a:cubicBezTo>
                  <a:lnTo>
                    <a:pt x="55477" y="617735"/>
                  </a:lnTo>
                  <a:cubicBezTo>
                    <a:pt x="24838" y="617735"/>
                    <a:pt x="0" y="592897"/>
                    <a:pt x="0" y="562258"/>
                  </a:cubicBezTo>
                  <a:lnTo>
                    <a:pt x="0" y="55477"/>
                  </a:lnTo>
                  <a:cubicBezTo>
                    <a:pt x="0" y="24838"/>
                    <a:pt x="24838" y="0"/>
                    <a:pt x="55477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570F69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596325" cy="674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921378" y="3888523"/>
            <a:ext cx="4607941" cy="508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Más de 1200 personas permanecen en la empresa y los cercas de 240 renunciaron.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Aquellos que renunciaron representan cerca de un quinto del total de empleados .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 la tendencia continua existiria un crecimiento exponencial del % de renuncias.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2653154" y="137192"/>
            <a:ext cx="14145878" cy="11522461"/>
          </a:xfrm>
          <a:custGeom>
            <a:avLst/>
            <a:gdLst/>
            <a:ahLst/>
            <a:cxnLst/>
            <a:rect r="r" b="b" t="t" l="l"/>
            <a:pathLst>
              <a:path h="11522461" w="14145878">
                <a:moveTo>
                  <a:pt x="14145878" y="11522460"/>
                </a:moveTo>
                <a:lnTo>
                  <a:pt x="0" y="11522460"/>
                </a:lnTo>
                <a:lnTo>
                  <a:pt x="0" y="0"/>
                </a:lnTo>
                <a:lnTo>
                  <a:pt x="14145878" y="0"/>
                </a:lnTo>
                <a:lnTo>
                  <a:pt x="14145878" y="115224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7875" y="2127773"/>
            <a:ext cx="16051425" cy="6099541"/>
          </a:xfrm>
          <a:custGeom>
            <a:avLst/>
            <a:gdLst/>
            <a:ahLst/>
            <a:cxnLst/>
            <a:rect r="r" b="b" t="t" l="l"/>
            <a:pathLst>
              <a:path h="6099541" w="16051425">
                <a:moveTo>
                  <a:pt x="0" y="0"/>
                </a:moveTo>
                <a:lnTo>
                  <a:pt x="16051425" y="0"/>
                </a:lnTo>
                <a:lnTo>
                  <a:pt x="16051425" y="6099541"/>
                </a:lnTo>
                <a:lnTo>
                  <a:pt x="0" y="60995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22250" y="375173"/>
            <a:ext cx="1507731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2"/>
              </a:lnSpc>
            </a:pPr>
            <a:r>
              <a:rPr lang="en-US" sz="4043" spc="12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¿CÓMO IMPACTA ESTA ROTACIÓN A LOS DISTINTOS DEPARTAMENTOS</a:t>
            </a:r>
            <a:r>
              <a:rPr lang="en-US" sz="4043" spc="12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07875" y="8415036"/>
            <a:ext cx="16051425" cy="1767189"/>
            <a:chOff x="0" y="0"/>
            <a:chExt cx="1853771" cy="204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53771" cy="204092"/>
            </a:xfrm>
            <a:custGeom>
              <a:avLst/>
              <a:gdLst/>
              <a:ahLst/>
              <a:cxnLst/>
              <a:rect r="r" b="b" t="t" l="l"/>
              <a:pathLst>
                <a:path h="204092" w="1853771">
                  <a:moveTo>
                    <a:pt x="17846" y="0"/>
                  </a:moveTo>
                  <a:lnTo>
                    <a:pt x="1835925" y="0"/>
                  </a:lnTo>
                  <a:cubicBezTo>
                    <a:pt x="1845781" y="0"/>
                    <a:pt x="1853771" y="7990"/>
                    <a:pt x="1853771" y="17846"/>
                  </a:cubicBezTo>
                  <a:lnTo>
                    <a:pt x="1853771" y="186246"/>
                  </a:lnTo>
                  <a:cubicBezTo>
                    <a:pt x="1853771" y="190979"/>
                    <a:pt x="1851891" y="195518"/>
                    <a:pt x="1848544" y="198865"/>
                  </a:cubicBezTo>
                  <a:cubicBezTo>
                    <a:pt x="1845197" y="202212"/>
                    <a:pt x="1840658" y="204092"/>
                    <a:pt x="1835925" y="204092"/>
                  </a:cubicBezTo>
                  <a:lnTo>
                    <a:pt x="17846" y="204092"/>
                  </a:lnTo>
                  <a:cubicBezTo>
                    <a:pt x="7990" y="204092"/>
                    <a:pt x="0" y="196102"/>
                    <a:pt x="0" y="186246"/>
                  </a:cubicBezTo>
                  <a:lnTo>
                    <a:pt x="0" y="17846"/>
                  </a:lnTo>
                  <a:cubicBezTo>
                    <a:pt x="0" y="7990"/>
                    <a:pt x="7990" y="0"/>
                    <a:pt x="17846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570F69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853771" cy="261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48938" y="8615730"/>
            <a:ext cx="15350628" cy="126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 departamentos presentan renuncias.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Existen tendencias de renuncias por género: Mujeres → R&amp;D, Hombres → Sales, Neutro → HR.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Rango más afectados son los 1 y 2.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8121383" y="-12398151"/>
            <a:ext cx="2045233" cy="23741899"/>
            <a:chOff x="0" y="0"/>
            <a:chExt cx="538662" cy="62530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8662" cy="6253010"/>
            </a:xfrm>
            <a:custGeom>
              <a:avLst/>
              <a:gdLst/>
              <a:ahLst/>
              <a:cxnLst/>
              <a:rect r="r" b="b" t="t" l="l"/>
              <a:pathLst>
                <a:path h="6253010" w="538662">
                  <a:moveTo>
                    <a:pt x="0" y="0"/>
                  </a:moveTo>
                  <a:lnTo>
                    <a:pt x="538662" y="0"/>
                  </a:lnTo>
                  <a:lnTo>
                    <a:pt x="538662" y="6253010"/>
                  </a:lnTo>
                  <a:lnTo>
                    <a:pt x="0" y="6253010"/>
                  </a:lnTo>
                  <a:close/>
                </a:path>
              </a:pathLst>
            </a:custGeom>
            <a:solidFill>
              <a:srgbClr val="741F8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38662" cy="6300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79903" y="3208336"/>
            <a:ext cx="10923997" cy="5448343"/>
          </a:xfrm>
          <a:custGeom>
            <a:avLst/>
            <a:gdLst/>
            <a:ahLst/>
            <a:cxnLst/>
            <a:rect r="r" b="b" t="t" l="l"/>
            <a:pathLst>
              <a:path h="5448343" w="10923997">
                <a:moveTo>
                  <a:pt x="0" y="0"/>
                </a:moveTo>
                <a:lnTo>
                  <a:pt x="10923997" y="0"/>
                </a:lnTo>
                <a:lnTo>
                  <a:pt x="10923997" y="5448343"/>
                </a:lnTo>
                <a:lnTo>
                  <a:pt x="0" y="5448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5182" y="1280375"/>
            <a:ext cx="17942818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7"/>
              </a:lnSpc>
            </a:pPr>
            <a:r>
              <a:rPr lang="en-US" sz="3831" spc="12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 PERSONAS CON RANGO 1 Y 2 ¿CUÁLES PODRÍAN SER LAS PRINCIPALES CAUSAS DE SU RENUNCIA</a:t>
            </a:r>
            <a:r>
              <a:rPr lang="en-US" sz="3831" spc="12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069828" y="3208336"/>
            <a:ext cx="5189472" cy="5348837"/>
            <a:chOff x="0" y="0"/>
            <a:chExt cx="599330" cy="6177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9330" cy="617735"/>
            </a:xfrm>
            <a:custGeom>
              <a:avLst/>
              <a:gdLst/>
              <a:ahLst/>
              <a:cxnLst/>
              <a:rect r="r" b="b" t="t" l="l"/>
              <a:pathLst>
                <a:path h="617735" w="599330">
                  <a:moveTo>
                    <a:pt x="55198" y="0"/>
                  </a:moveTo>
                  <a:lnTo>
                    <a:pt x="544131" y="0"/>
                  </a:lnTo>
                  <a:cubicBezTo>
                    <a:pt x="574616" y="0"/>
                    <a:pt x="599330" y="24713"/>
                    <a:pt x="599330" y="55198"/>
                  </a:cubicBezTo>
                  <a:lnTo>
                    <a:pt x="599330" y="562536"/>
                  </a:lnTo>
                  <a:cubicBezTo>
                    <a:pt x="599330" y="593021"/>
                    <a:pt x="574616" y="617735"/>
                    <a:pt x="544131" y="617735"/>
                  </a:cubicBezTo>
                  <a:lnTo>
                    <a:pt x="55198" y="617735"/>
                  </a:lnTo>
                  <a:cubicBezTo>
                    <a:pt x="24713" y="617735"/>
                    <a:pt x="0" y="593021"/>
                    <a:pt x="0" y="562536"/>
                  </a:cubicBezTo>
                  <a:lnTo>
                    <a:pt x="0" y="55198"/>
                  </a:lnTo>
                  <a:cubicBezTo>
                    <a:pt x="0" y="24713"/>
                    <a:pt x="24713" y="0"/>
                    <a:pt x="55198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570F69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99330" cy="674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268859" y="3325459"/>
            <a:ext cx="4712911" cy="551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la mayoría de roles, las diferencias salariales entre renuncia y permanencia son mínimas.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ventas operativas, la renuncia está asociada a ingresos más bajos.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roles especializados, algunos renuncian pese a salarios elevados, indicando otros factores de salida.</a:t>
            </a:r>
          </a:p>
          <a:p>
            <a:pPr algn="l">
              <a:lnSpc>
                <a:spcPts val="3363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2203855" y="5882755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5301" y="346396"/>
            <a:ext cx="17084913" cy="9570812"/>
            <a:chOff x="0" y="0"/>
            <a:chExt cx="6363904" cy="35650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63904" cy="3565001"/>
            </a:xfrm>
            <a:custGeom>
              <a:avLst/>
              <a:gdLst/>
              <a:ahLst/>
              <a:cxnLst/>
              <a:rect r="r" b="b" t="t" l="l"/>
              <a:pathLst>
                <a:path h="3565001" w="6363904">
                  <a:moveTo>
                    <a:pt x="0" y="0"/>
                  </a:moveTo>
                  <a:lnTo>
                    <a:pt x="6363904" y="0"/>
                  </a:lnTo>
                  <a:lnTo>
                    <a:pt x="6363904" y="3565001"/>
                  </a:lnTo>
                  <a:lnTo>
                    <a:pt x="0" y="35650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6363904" cy="3555476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700000">
            <a:off x="-3368672" y="749304"/>
            <a:ext cx="9281939" cy="2794075"/>
            <a:chOff x="0" y="0"/>
            <a:chExt cx="2444626" cy="7358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4626" cy="735888"/>
            </a:xfrm>
            <a:custGeom>
              <a:avLst/>
              <a:gdLst/>
              <a:ahLst/>
              <a:cxnLst/>
              <a:rect r="r" b="b" t="t" l="l"/>
              <a:pathLst>
                <a:path h="735888" w="2444626">
                  <a:moveTo>
                    <a:pt x="0" y="0"/>
                  </a:moveTo>
                  <a:lnTo>
                    <a:pt x="2444626" y="0"/>
                  </a:lnTo>
                  <a:lnTo>
                    <a:pt x="2444626" y="735888"/>
                  </a:lnTo>
                  <a:lnTo>
                    <a:pt x="0" y="735888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444626" cy="783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00000">
            <a:off x="-813270" y="-2123174"/>
            <a:ext cx="6355083" cy="6355083"/>
          </a:xfrm>
          <a:custGeom>
            <a:avLst/>
            <a:gdLst/>
            <a:ahLst/>
            <a:cxnLst/>
            <a:rect r="r" b="b" t="t" l="l"/>
            <a:pathLst>
              <a:path h="6355083" w="6355083">
                <a:moveTo>
                  <a:pt x="0" y="0"/>
                </a:moveTo>
                <a:lnTo>
                  <a:pt x="6355082" y="0"/>
                </a:lnTo>
                <a:lnTo>
                  <a:pt x="6355082" y="6355083"/>
                </a:lnTo>
                <a:lnTo>
                  <a:pt x="0" y="6355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702823" y="3771401"/>
            <a:ext cx="5163459" cy="5348837"/>
            <a:chOff x="0" y="0"/>
            <a:chExt cx="596325" cy="6177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6325" cy="617735"/>
            </a:xfrm>
            <a:custGeom>
              <a:avLst/>
              <a:gdLst/>
              <a:ahLst/>
              <a:cxnLst/>
              <a:rect r="r" b="b" t="t" l="l"/>
              <a:pathLst>
                <a:path h="617735" w="596325">
                  <a:moveTo>
                    <a:pt x="55477" y="0"/>
                  </a:moveTo>
                  <a:lnTo>
                    <a:pt x="540849" y="0"/>
                  </a:lnTo>
                  <a:cubicBezTo>
                    <a:pt x="571488" y="0"/>
                    <a:pt x="596325" y="24838"/>
                    <a:pt x="596325" y="55477"/>
                  </a:cubicBezTo>
                  <a:lnTo>
                    <a:pt x="596325" y="562258"/>
                  </a:lnTo>
                  <a:cubicBezTo>
                    <a:pt x="596325" y="576971"/>
                    <a:pt x="590480" y="591082"/>
                    <a:pt x="580077" y="601486"/>
                  </a:cubicBezTo>
                  <a:cubicBezTo>
                    <a:pt x="569673" y="611890"/>
                    <a:pt x="555562" y="617735"/>
                    <a:pt x="540849" y="617735"/>
                  </a:cubicBezTo>
                  <a:lnTo>
                    <a:pt x="55477" y="617735"/>
                  </a:lnTo>
                  <a:cubicBezTo>
                    <a:pt x="24838" y="617735"/>
                    <a:pt x="0" y="592897"/>
                    <a:pt x="0" y="562258"/>
                  </a:cubicBezTo>
                  <a:lnTo>
                    <a:pt x="0" y="55477"/>
                  </a:lnTo>
                  <a:cubicBezTo>
                    <a:pt x="0" y="24838"/>
                    <a:pt x="24838" y="0"/>
                    <a:pt x="55477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570F69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596325" cy="674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921378" y="3888523"/>
            <a:ext cx="4607941" cy="508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Quienes renuncian tienen menos años en la empresa, sugiriendo rotación temprana.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empleados con mayor antigüedad tienden a permanecer.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roles operativos presentan las mayores diferencias de antigüedad entre renuncia y permanencia.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1" y="1574842"/>
            <a:ext cx="17942818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7"/>
              </a:lnSpc>
            </a:pPr>
            <a:r>
              <a:rPr lang="en-US" sz="3831" spc="12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 PERSONAS CON RANGO 1 Y 2 ¿CUÁLES PODRÍAN SER LAS PRINCIPALES CAUSAS DE SU RENUNCIA</a:t>
            </a:r>
            <a:r>
              <a:rPr lang="en-US" sz="3831" spc="12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?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28700" y="3810267"/>
            <a:ext cx="10542207" cy="5271104"/>
          </a:xfrm>
          <a:custGeom>
            <a:avLst/>
            <a:gdLst/>
            <a:ahLst/>
            <a:cxnLst/>
            <a:rect r="r" b="b" t="t" l="l"/>
            <a:pathLst>
              <a:path h="5271104" w="10542207">
                <a:moveTo>
                  <a:pt x="0" y="0"/>
                </a:moveTo>
                <a:lnTo>
                  <a:pt x="10542207" y="0"/>
                </a:lnTo>
                <a:lnTo>
                  <a:pt x="10542207" y="5271104"/>
                </a:lnTo>
                <a:lnTo>
                  <a:pt x="0" y="52711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5301" y="346396"/>
            <a:ext cx="17084913" cy="9570812"/>
            <a:chOff x="0" y="0"/>
            <a:chExt cx="6363904" cy="35650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63904" cy="3565001"/>
            </a:xfrm>
            <a:custGeom>
              <a:avLst/>
              <a:gdLst/>
              <a:ahLst/>
              <a:cxnLst/>
              <a:rect r="r" b="b" t="t" l="l"/>
              <a:pathLst>
                <a:path h="3565001" w="6363904">
                  <a:moveTo>
                    <a:pt x="0" y="0"/>
                  </a:moveTo>
                  <a:lnTo>
                    <a:pt x="6363904" y="0"/>
                  </a:lnTo>
                  <a:lnTo>
                    <a:pt x="6363904" y="3565001"/>
                  </a:lnTo>
                  <a:lnTo>
                    <a:pt x="0" y="35650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6363904" cy="3555476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700000">
            <a:off x="-3368672" y="749304"/>
            <a:ext cx="9281939" cy="2794075"/>
            <a:chOff x="0" y="0"/>
            <a:chExt cx="2444626" cy="7358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4626" cy="735888"/>
            </a:xfrm>
            <a:custGeom>
              <a:avLst/>
              <a:gdLst/>
              <a:ahLst/>
              <a:cxnLst/>
              <a:rect r="r" b="b" t="t" l="l"/>
              <a:pathLst>
                <a:path h="735888" w="2444626">
                  <a:moveTo>
                    <a:pt x="0" y="0"/>
                  </a:moveTo>
                  <a:lnTo>
                    <a:pt x="2444626" y="0"/>
                  </a:lnTo>
                  <a:lnTo>
                    <a:pt x="2444626" y="735888"/>
                  </a:lnTo>
                  <a:lnTo>
                    <a:pt x="0" y="735888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444626" cy="783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00000">
            <a:off x="-813270" y="-2123174"/>
            <a:ext cx="6355083" cy="6355083"/>
          </a:xfrm>
          <a:custGeom>
            <a:avLst/>
            <a:gdLst/>
            <a:ahLst/>
            <a:cxnLst/>
            <a:rect r="r" b="b" t="t" l="l"/>
            <a:pathLst>
              <a:path h="6355083" w="6355083">
                <a:moveTo>
                  <a:pt x="0" y="0"/>
                </a:moveTo>
                <a:lnTo>
                  <a:pt x="6355082" y="0"/>
                </a:lnTo>
                <a:lnTo>
                  <a:pt x="6355082" y="6355083"/>
                </a:lnTo>
                <a:lnTo>
                  <a:pt x="0" y="6355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702823" y="3771401"/>
            <a:ext cx="5163459" cy="5348837"/>
            <a:chOff x="0" y="0"/>
            <a:chExt cx="596325" cy="6177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6325" cy="617735"/>
            </a:xfrm>
            <a:custGeom>
              <a:avLst/>
              <a:gdLst/>
              <a:ahLst/>
              <a:cxnLst/>
              <a:rect r="r" b="b" t="t" l="l"/>
              <a:pathLst>
                <a:path h="617735" w="596325">
                  <a:moveTo>
                    <a:pt x="55477" y="0"/>
                  </a:moveTo>
                  <a:lnTo>
                    <a:pt x="540849" y="0"/>
                  </a:lnTo>
                  <a:cubicBezTo>
                    <a:pt x="571488" y="0"/>
                    <a:pt x="596325" y="24838"/>
                    <a:pt x="596325" y="55477"/>
                  </a:cubicBezTo>
                  <a:lnTo>
                    <a:pt x="596325" y="562258"/>
                  </a:lnTo>
                  <a:cubicBezTo>
                    <a:pt x="596325" y="576971"/>
                    <a:pt x="590480" y="591082"/>
                    <a:pt x="580077" y="601486"/>
                  </a:cubicBezTo>
                  <a:cubicBezTo>
                    <a:pt x="569673" y="611890"/>
                    <a:pt x="555562" y="617735"/>
                    <a:pt x="540849" y="617735"/>
                  </a:cubicBezTo>
                  <a:lnTo>
                    <a:pt x="55477" y="617735"/>
                  </a:lnTo>
                  <a:cubicBezTo>
                    <a:pt x="24838" y="617735"/>
                    <a:pt x="0" y="592897"/>
                    <a:pt x="0" y="562258"/>
                  </a:cubicBezTo>
                  <a:lnTo>
                    <a:pt x="0" y="55477"/>
                  </a:lnTo>
                  <a:cubicBezTo>
                    <a:pt x="0" y="24838"/>
                    <a:pt x="24838" y="0"/>
                    <a:pt x="55477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570F69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596325" cy="674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921378" y="3888523"/>
            <a:ext cx="4607941" cy="508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Quienes renunciaron tienen menos tiempo desde su último ascenso que quienes permanecen.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permanencia está asociada a trayectorias con ascensos más antiguos y consolidados.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“Research Scientist 2” destaca con alto tiempo sin ascenso, evidenciando riesgo de estancamiento.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1" y="1574842"/>
            <a:ext cx="17942818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7"/>
              </a:lnSpc>
            </a:pPr>
            <a:r>
              <a:rPr lang="en-US" sz="3831" spc="12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 PERSONAS CON RANGO 1 Y 2 ¿CUÁLES PODRÍAN SER LAS PRINCIPALES CAUSAS DE SU RENUNCIA</a:t>
            </a:r>
            <a:r>
              <a:rPr lang="en-US" sz="3831" spc="12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?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92518" y="3779036"/>
            <a:ext cx="10682404" cy="5341202"/>
          </a:xfrm>
          <a:custGeom>
            <a:avLst/>
            <a:gdLst/>
            <a:ahLst/>
            <a:cxnLst/>
            <a:rect r="r" b="b" t="t" l="l"/>
            <a:pathLst>
              <a:path h="5341202" w="10682404">
                <a:moveTo>
                  <a:pt x="0" y="0"/>
                </a:moveTo>
                <a:lnTo>
                  <a:pt x="10682403" y="0"/>
                </a:lnTo>
                <a:lnTo>
                  <a:pt x="10682403" y="5341202"/>
                </a:lnTo>
                <a:lnTo>
                  <a:pt x="0" y="53412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5301" y="346396"/>
            <a:ext cx="17084913" cy="9570812"/>
            <a:chOff x="0" y="0"/>
            <a:chExt cx="6363904" cy="35650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63904" cy="3565001"/>
            </a:xfrm>
            <a:custGeom>
              <a:avLst/>
              <a:gdLst/>
              <a:ahLst/>
              <a:cxnLst/>
              <a:rect r="r" b="b" t="t" l="l"/>
              <a:pathLst>
                <a:path h="3565001" w="6363904">
                  <a:moveTo>
                    <a:pt x="0" y="0"/>
                  </a:moveTo>
                  <a:lnTo>
                    <a:pt x="6363904" y="0"/>
                  </a:lnTo>
                  <a:lnTo>
                    <a:pt x="6363904" y="3565001"/>
                  </a:lnTo>
                  <a:lnTo>
                    <a:pt x="0" y="35650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6363904" cy="3555476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700000">
            <a:off x="-3368672" y="749304"/>
            <a:ext cx="9281939" cy="2794075"/>
            <a:chOff x="0" y="0"/>
            <a:chExt cx="2444626" cy="7358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4626" cy="735888"/>
            </a:xfrm>
            <a:custGeom>
              <a:avLst/>
              <a:gdLst/>
              <a:ahLst/>
              <a:cxnLst/>
              <a:rect r="r" b="b" t="t" l="l"/>
              <a:pathLst>
                <a:path h="735888" w="2444626">
                  <a:moveTo>
                    <a:pt x="0" y="0"/>
                  </a:moveTo>
                  <a:lnTo>
                    <a:pt x="2444626" y="0"/>
                  </a:lnTo>
                  <a:lnTo>
                    <a:pt x="2444626" y="735888"/>
                  </a:lnTo>
                  <a:lnTo>
                    <a:pt x="0" y="735888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444626" cy="783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5400000">
            <a:off x="-813270" y="-2123174"/>
            <a:ext cx="6355083" cy="6355083"/>
          </a:xfrm>
          <a:custGeom>
            <a:avLst/>
            <a:gdLst/>
            <a:ahLst/>
            <a:cxnLst/>
            <a:rect r="r" b="b" t="t" l="l"/>
            <a:pathLst>
              <a:path h="6355083" w="6355083">
                <a:moveTo>
                  <a:pt x="0" y="0"/>
                </a:moveTo>
                <a:lnTo>
                  <a:pt x="6355082" y="0"/>
                </a:lnTo>
                <a:lnTo>
                  <a:pt x="6355082" y="6355083"/>
                </a:lnTo>
                <a:lnTo>
                  <a:pt x="0" y="6355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702823" y="3771401"/>
            <a:ext cx="5163459" cy="5348837"/>
            <a:chOff x="0" y="0"/>
            <a:chExt cx="596325" cy="6177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6325" cy="617735"/>
            </a:xfrm>
            <a:custGeom>
              <a:avLst/>
              <a:gdLst/>
              <a:ahLst/>
              <a:cxnLst/>
              <a:rect r="r" b="b" t="t" l="l"/>
              <a:pathLst>
                <a:path h="617735" w="596325">
                  <a:moveTo>
                    <a:pt x="55477" y="0"/>
                  </a:moveTo>
                  <a:lnTo>
                    <a:pt x="540849" y="0"/>
                  </a:lnTo>
                  <a:cubicBezTo>
                    <a:pt x="571488" y="0"/>
                    <a:pt x="596325" y="24838"/>
                    <a:pt x="596325" y="55477"/>
                  </a:cubicBezTo>
                  <a:lnTo>
                    <a:pt x="596325" y="562258"/>
                  </a:lnTo>
                  <a:cubicBezTo>
                    <a:pt x="596325" y="576971"/>
                    <a:pt x="590480" y="591082"/>
                    <a:pt x="580077" y="601486"/>
                  </a:cubicBezTo>
                  <a:cubicBezTo>
                    <a:pt x="569673" y="611890"/>
                    <a:pt x="555562" y="617735"/>
                    <a:pt x="540849" y="617735"/>
                  </a:cubicBezTo>
                  <a:lnTo>
                    <a:pt x="55477" y="617735"/>
                  </a:lnTo>
                  <a:cubicBezTo>
                    <a:pt x="24838" y="617735"/>
                    <a:pt x="0" y="592897"/>
                    <a:pt x="0" y="562258"/>
                  </a:cubicBezTo>
                  <a:lnTo>
                    <a:pt x="0" y="55477"/>
                  </a:lnTo>
                  <a:cubicBezTo>
                    <a:pt x="0" y="24838"/>
                    <a:pt x="24838" y="0"/>
                    <a:pt x="55477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570F69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596325" cy="674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921378" y="3888523"/>
            <a:ext cx="4607941" cy="508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renuncia se concentra en empleados con menos tiempo en su puesto actual.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colaboradores que permanecen muestran mayor madurez y estabilidad en el cargo.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brechas son más amplias en niveles intermedios, reflejando desafíos de retención.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1" y="1574842"/>
            <a:ext cx="17942818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7"/>
              </a:lnSpc>
            </a:pPr>
            <a:r>
              <a:rPr lang="en-US" sz="3831" spc="12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 PERSONAS CON RANGO 1 Y 2 ¿CUÁLES PODRÍAN SER LAS PRINCIPALES CAUSAS DE SU RENUNCIA</a:t>
            </a:r>
            <a:r>
              <a:rPr lang="en-US" sz="3831" spc="12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?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45003" y="3779036"/>
            <a:ext cx="10682404" cy="5341202"/>
          </a:xfrm>
          <a:custGeom>
            <a:avLst/>
            <a:gdLst/>
            <a:ahLst/>
            <a:cxnLst/>
            <a:rect r="r" b="b" t="t" l="l"/>
            <a:pathLst>
              <a:path h="5341202" w="10682404">
                <a:moveTo>
                  <a:pt x="0" y="0"/>
                </a:moveTo>
                <a:lnTo>
                  <a:pt x="10682403" y="0"/>
                </a:lnTo>
                <a:lnTo>
                  <a:pt x="10682403" y="5341202"/>
                </a:lnTo>
                <a:lnTo>
                  <a:pt x="0" y="53412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53707" y="3306067"/>
            <a:ext cx="2498868" cy="2498868"/>
            <a:chOff x="0" y="0"/>
            <a:chExt cx="3331824" cy="3331824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4400530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400530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782A8C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408917" y="466286"/>
              <a:ext cx="2505689" cy="2505689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9235425" y="3306067"/>
            <a:ext cx="2498868" cy="2498868"/>
            <a:chOff x="0" y="0"/>
            <a:chExt cx="3331824" cy="3331824"/>
          </a:xfrm>
        </p:grpSpPr>
        <p:grpSp>
          <p:nvGrpSpPr>
            <p:cNvPr name="Group 13" id="13"/>
            <p:cNvGrpSpPr>
              <a:grpSpLocks noChangeAspect="true"/>
            </p:cNvGrpSpPr>
            <p:nvPr/>
          </p:nvGrpSpPr>
          <p:grpSpPr>
            <a:xfrm rot="540000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4400530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400530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FF99FF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386640" y="461273"/>
              <a:ext cx="2510702" cy="2510702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9235425" y="5936126"/>
            <a:ext cx="2498868" cy="2498868"/>
            <a:chOff x="0" y="0"/>
            <a:chExt cx="3331824" cy="3331824"/>
          </a:xfrm>
        </p:grpSpPr>
        <p:grpSp>
          <p:nvGrpSpPr>
            <p:cNvPr name="Group 19" id="19"/>
            <p:cNvGrpSpPr>
              <a:grpSpLocks noChangeAspect="true"/>
            </p:cNvGrpSpPr>
            <p:nvPr/>
          </p:nvGrpSpPr>
          <p:grpSpPr>
            <a:xfrm rot="-10800000">
              <a:off x="0" y="0"/>
              <a:ext cx="3331824" cy="3331824"/>
              <a:chOff x="0" y="0"/>
              <a:chExt cx="14400530" cy="1440053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400530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400530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782A8C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374877" y="374877"/>
              <a:ext cx="2530206" cy="2530206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6553707" y="5936126"/>
            <a:ext cx="2521050" cy="2521050"/>
            <a:chOff x="0" y="0"/>
            <a:chExt cx="3361401" cy="3361401"/>
          </a:xfrm>
        </p:grpSpPr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-5400000">
              <a:off x="0" y="0"/>
              <a:ext cx="3361401" cy="3361401"/>
              <a:chOff x="0" y="0"/>
              <a:chExt cx="14400530" cy="1440053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4400530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400530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DD4EDA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408917" y="443611"/>
              <a:ext cx="2508873" cy="2508873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sp>
        <p:nvSpPr>
          <p:cNvPr name="TextBox 30" id="30"/>
          <p:cNvSpPr txBox="true"/>
          <p:nvPr/>
        </p:nvSpPr>
        <p:spPr>
          <a:xfrm rot="0">
            <a:off x="2664396" y="1953649"/>
            <a:ext cx="13142058" cy="1039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4"/>
              </a:lnSpc>
            </a:pPr>
            <a:r>
              <a:rPr lang="en-US" sz="2683" spc="8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 TANTO INFLUYE (EL RECONOCIM</a:t>
            </a:r>
            <a:r>
              <a:rPr lang="en-US" sz="2683" spc="8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IENTO Y LA CANTIDAD DE AÑOS RESPECTO AL SUELDO QUE PERCIBEN LOS EMPLEADOS) A LA PERMANENCIA O SALIDA DE EMPLEADOS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7323829" y="3940553"/>
            <a:ext cx="952399" cy="1411913"/>
          </a:xfrm>
          <a:custGeom>
            <a:avLst/>
            <a:gdLst/>
            <a:ahLst/>
            <a:cxnLst/>
            <a:rect r="r" b="b" t="t" l="l"/>
            <a:pathLst>
              <a:path h="1411913" w="952399">
                <a:moveTo>
                  <a:pt x="0" y="0"/>
                </a:moveTo>
                <a:lnTo>
                  <a:pt x="952400" y="0"/>
                </a:lnTo>
                <a:lnTo>
                  <a:pt x="952400" y="1411913"/>
                </a:lnTo>
                <a:lnTo>
                  <a:pt x="0" y="14119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968395" y="6602489"/>
            <a:ext cx="1047406" cy="1166140"/>
          </a:xfrm>
          <a:custGeom>
            <a:avLst/>
            <a:gdLst/>
            <a:ahLst/>
            <a:cxnLst/>
            <a:rect r="r" b="b" t="t" l="l"/>
            <a:pathLst>
              <a:path h="1166140" w="1047406">
                <a:moveTo>
                  <a:pt x="0" y="0"/>
                </a:moveTo>
                <a:lnTo>
                  <a:pt x="1047405" y="0"/>
                </a:lnTo>
                <a:lnTo>
                  <a:pt x="1047405" y="1166140"/>
                </a:lnTo>
                <a:lnTo>
                  <a:pt x="0" y="11661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009650" y="4057507"/>
            <a:ext cx="973317" cy="1112940"/>
          </a:xfrm>
          <a:custGeom>
            <a:avLst/>
            <a:gdLst/>
            <a:ahLst/>
            <a:cxnLst/>
            <a:rect r="r" b="b" t="t" l="l"/>
            <a:pathLst>
              <a:path h="1112940" w="973317">
                <a:moveTo>
                  <a:pt x="0" y="0"/>
                </a:moveTo>
                <a:lnTo>
                  <a:pt x="973317" y="0"/>
                </a:lnTo>
                <a:lnTo>
                  <a:pt x="973317" y="1112941"/>
                </a:lnTo>
                <a:lnTo>
                  <a:pt x="0" y="11129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275352" y="6593053"/>
            <a:ext cx="1049354" cy="1233215"/>
          </a:xfrm>
          <a:custGeom>
            <a:avLst/>
            <a:gdLst/>
            <a:ahLst/>
            <a:cxnLst/>
            <a:rect r="r" b="b" t="t" l="l"/>
            <a:pathLst>
              <a:path h="1233215" w="1049354">
                <a:moveTo>
                  <a:pt x="0" y="0"/>
                </a:moveTo>
                <a:lnTo>
                  <a:pt x="1049354" y="0"/>
                </a:lnTo>
                <a:lnTo>
                  <a:pt x="1049354" y="1233215"/>
                </a:lnTo>
                <a:lnTo>
                  <a:pt x="0" y="12332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2594183" y="3277492"/>
            <a:ext cx="3071543" cy="33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 spc="-4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01. Trabajo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939939" y="3277492"/>
            <a:ext cx="3418129" cy="33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 spc="-4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03. Metas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998949" y="6185586"/>
            <a:ext cx="3359119" cy="33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 spc="-4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04. Resultados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94183" y="6185586"/>
            <a:ext cx="3071543" cy="33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  <a:spcBef>
                <a:spcPct val="0"/>
              </a:spcBef>
            </a:pPr>
            <a:r>
              <a:rPr lang="en-US" sz="2011" spc="-4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02. Cronología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60749" y="4441301"/>
            <a:ext cx="4216166" cy="5218903"/>
            <a:chOff x="0" y="0"/>
            <a:chExt cx="486923" cy="6027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6923" cy="602729"/>
            </a:xfrm>
            <a:custGeom>
              <a:avLst/>
              <a:gdLst/>
              <a:ahLst/>
              <a:cxnLst/>
              <a:rect r="r" b="b" t="t" l="l"/>
              <a:pathLst>
                <a:path h="602729" w="486923">
                  <a:moveTo>
                    <a:pt x="67941" y="0"/>
                  </a:moveTo>
                  <a:lnTo>
                    <a:pt x="418982" y="0"/>
                  </a:lnTo>
                  <a:cubicBezTo>
                    <a:pt x="437001" y="0"/>
                    <a:pt x="454282" y="7158"/>
                    <a:pt x="467023" y="19899"/>
                  </a:cubicBezTo>
                  <a:cubicBezTo>
                    <a:pt x="479765" y="32641"/>
                    <a:pt x="486923" y="49922"/>
                    <a:pt x="486923" y="67941"/>
                  </a:cubicBezTo>
                  <a:lnTo>
                    <a:pt x="486923" y="534787"/>
                  </a:lnTo>
                  <a:cubicBezTo>
                    <a:pt x="486923" y="552807"/>
                    <a:pt x="479765" y="570088"/>
                    <a:pt x="467023" y="582829"/>
                  </a:cubicBezTo>
                  <a:cubicBezTo>
                    <a:pt x="454282" y="595570"/>
                    <a:pt x="437001" y="602729"/>
                    <a:pt x="418982" y="602729"/>
                  </a:cubicBezTo>
                  <a:lnTo>
                    <a:pt x="67941" y="602729"/>
                  </a:lnTo>
                  <a:cubicBezTo>
                    <a:pt x="49922" y="602729"/>
                    <a:pt x="32641" y="595570"/>
                    <a:pt x="19899" y="582829"/>
                  </a:cubicBezTo>
                  <a:cubicBezTo>
                    <a:pt x="7158" y="570088"/>
                    <a:pt x="0" y="552807"/>
                    <a:pt x="0" y="534787"/>
                  </a:cubicBezTo>
                  <a:lnTo>
                    <a:pt x="0" y="67941"/>
                  </a:lnTo>
                  <a:cubicBezTo>
                    <a:pt x="0" y="49922"/>
                    <a:pt x="7158" y="32641"/>
                    <a:pt x="19899" y="19899"/>
                  </a:cubicBezTo>
                  <a:cubicBezTo>
                    <a:pt x="32641" y="7158"/>
                    <a:pt x="49922" y="0"/>
                    <a:pt x="67941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570F69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6923" cy="659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0554" y="4376523"/>
            <a:ext cx="4182981" cy="5251292"/>
            <a:chOff x="0" y="0"/>
            <a:chExt cx="483090" cy="6064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3090" cy="606469"/>
            </a:xfrm>
            <a:custGeom>
              <a:avLst/>
              <a:gdLst/>
              <a:ahLst/>
              <a:cxnLst/>
              <a:rect r="r" b="b" t="t" l="l"/>
              <a:pathLst>
                <a:path h="606469" w="483090">
                  <a:moveTo>
                    <a:pt x="68480" y="0"/>
                  </a:moveTo>
                  <a:lnTo>
                    <a:pt x="414610" y="0"/>
                  </a:lnTo>
                  <a:cubicBezTo>
                    <a:pt x="432772" y="0"/>
                    <a:pt x="450191" y="7215"/>
                    <a:pt x="463033" y="20057"/>
                  </a:cubicBezTo>
                  <a:cubicBezTo>
                    <a:pt x="475876" y="32900"/>
                    <a:pt x="483090" y="50318"/>
                    <a:pt x="483090" y="68480"/>
                  </a:cubicBezTo>
                  <a:lnTo>
                    <a:pt x="483090" y="537989"/>
                  </a:lnTo>
                  <a:cubicBezTo>
                    <a:pt x="483090" y="556151"/>
                    <a:pt x="475876" y="573569"/>
                    <a:pt x="463033" y="586412"/>
                  </a:cubicBezTo>
                  <a:cubicBezTo>
                    <a:pt x="450191" y="599254"/>
                    <a:pt x="432772" y="606469"/>
                    <a:pt x="414610" y="606469"/>
                  </a:cubicBezTo>
                  <a:lnTo>
                    <a:pt x="68480" y="606469"/>
                  </a:lnTo>
                  <a:cubicBezTo>
                    <a:pt x="50318" y="606469"/>
                    <a:pt x="32900" y="599254"/>
                    <a:pt x="20057" y="586412"/>
                  </a:cubicBezTo>
                  <a:cubicBezTo>
                    <a:pt x="7215" y="573569"/>
                    <a:pt x="0" y="556151"/>
                    <a:pt x="0" y="537989"/>
                  </a:cubicBezTo>
                  <a:lnTo>
                    <a:pt x="0" y="68480"/>
                  </a:lnTo>
                  <a:cubicBezTo>
                    <a:pt x="0" y="50318"/>
                    <a:pt x="7215" y="32900"/>
                    <a:pt x="20057" y="20057"/>
                  </a:cubicBezTo>
                  <a:cubicBezTo>
                    <a:pt x="32900" y="7215"/>
                    <a:pt x="50318" y="0"/>
                    <a:pt x="6848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FF99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3090" cy="6636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892994" y="1582990"/>
            <a:ext cx="2280409" cy="2280409"/>
            <a:chOff x="0" y="0"/>
            <a:chExt cx="3040545" cy="3040545"/>
          </a:xfrm>
        </p:grpSpPr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0" y="0"/>
              <a:ext cx="3040545" cy="3040545"/>
              <a:chOff x="0" y="0"/>
              <a:chExt cx="14400530" cy="1440053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4400530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400530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FF99FF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373169" y="425522"/>
              <a:ext cx="2286633" cy="2286633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-2700000">
            <a:off x="5926577" y="1615060"/>
            <a:ext cx="2287671" cy="2287671"/>
            <a:chOff x="0" y="0"/>
            <a:chExt cx="3050228" cy="3050228"/>
          </a:xfrm>
        </p:grpSpPr>
        <p:grpSp>
          <p:nvGrpSpPr>
            <p:cNvPr name="Group 16" id="16"/>
            <p:cNvGrpSpPr>
              <a:grpSpLocks noChangeAspect="true"/>
            </p:cNvGrpSpPr>
            <p:nvPr/>
          </p:nvGrpSpPr>
          <p:grpSpPr>
            <a:xfrm rot="5400000">
              <a:off x="0" y="0"/>
              <a:ext cx="3050228" cy="3050228"/>
              <a:chOff x="0" y="0"/>
              <a:chExt cx="14400530" cy="1440053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4400530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400530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570F69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353962" y="422288"/>
              <a:ext cx="2298505" cy="2298505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9220607" y="4408912"/>
            <a:ext cx="4268707" cy="5283681"/>
            <a:chOff x="0" y="0"/>
            <a:chExt cx="492991" cy="6102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2991" cy="610210"/>
            </a:xfrm>
            <a:custGeom>
              <a:avLst/>
              <a:gdLst/>
              <a:ahLst/>
              <a:cxnLst/>
              <a:rect r="r" b="b" t="t" l="l"/>
              <a:pathLst>
                <a:path h="610210" w="492991">
                  <a:moveTo>
                    <a:pt x="67105" y="0"/>
                  </a:moveTo>
                  <a:lnTo>
                    <a:pt x="425886" y="0"/>
                  </a:lnTo>
                  <a:cubicBezTo>
                    <a:pt x="443683" y="0"/>
                    <a:pt x="460752" y="7070"/>
                    <a:pt x="473336" y="19655"/>
                  </a:cubicBezTo>
                  <a:cubicBezTo>
                    <a:pt x="485921" y="32239"/>
                    <a:pt x="492991" y="49308"/>
                    <a:pt x="492991" y="67105"/>
                  </a:cubicBezTo>
                  <a:lnTo>
                    <a:pt x="492991" y="543105"/>
                  </a:lnTo>
                  <a:cubicBezTo>
                    <a:pt x="492991" y="560902"/>
                    <a:pt x="485921" y="577971"/>
                    <a:pt x="473336" y="590555"/>
                  </a:cubicBezTo>
                  <a:cubicBezTo>
                    <a:pt x="460752" y="603140"/>
                    <a:pt x="443683" y="610210"/>
                    <a:pt x="425886" y="610210"/>
                  </a:cubicBezTo>
                  <a:lnTo>
                    <a:pt x="67105" y="610210"/>
                  </a:lnTo>
                  <a:cubicBezTo>
                    <a:pt x="49308" y="610210"/>
                    <a:pt x="32239" y="603140"/>
                    <a:pt x="19655" y="590555"/>
                  </a:cubicBezTo>
                  <a:cubicBezTo>
                    <a:pt x="7070" y="577971"/>
                    <a:pt x="0" y="560902"/>
                    <a:pt x="0" y="543105"/>
                  </a:cubicBezTo>
                  <a:lnTo>
                    <a:pt x="0" y="67105"/>
                  </a:lnTo>
                  <a:cubicBezTo>
                    <a:pt x="0" y="49308"/>
                    <a:pt x="7070" y="32239"/>
                    <a:pt x="19655" y="19655"/>
                  </a:cubicBezTo>
                  <a:cubicBezTo>
                    <a:pt x="32239" y="7070"/>
                    <a:pt x="49308" y="0"/>
                    <a:pt x="67105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FF99FF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492991" cy="667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2700000">
            <a:off x="10064764" y="1529935"/>
            <a:ext cx="2324361" cy="2324361"/>
            <a:chOff x="0" y="0"/>
            <a:chExt cx="3099148" cy="3099148"/>
          </a:xfrm>
        </p:grpSpPr>
        <p:grpSp>
          <p:nvGrpSpPr>
            <p:cNvPr name="Group 25" id="25"/>
            <p:cNvGrpSpPr>
              <a:grpSpLocks noChangeAspect="true"/>
            </p:cNvGrpSpPr>
            <p:nvPr/>
          </p:nvGrpSpPr>
          <p:grpSpPr>
            <a:xfrm rot="0">
              <a:off x="0" y="0"/>
              <a:ext cx="3099148" cy="3099148"/>
              <a:chOff x="0" y="0"/>
              <a:chExt cx="14400530" cy="1440053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4400530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400530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FF99FF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380361" y="433723"/>
              <a:ext cx="2330706" cy="2330706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0">
            <a:off x="13631373" y="4376523"/>
            <a:ext cx="3982548" cy="5283681"/>
            <a:chOff x="0" y="0"/>
            <a:chExt cx="459942" cy="6102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9942" cy="610210"/>
            </a:xfrm>
            <a:custGeom>
              <a:avLst/>
              <a:gdLst/>
              <a:ahLst/>
              <a:cxnLst/>
              <a:rect r="r" b="b" t="t" l="l"/>
              <a:pathLst>
                <a:path h="610210" w="459942">
                  <a:moveTo>
                    <a:pt x="71927" y="0"/>
                  </a:moveTo>
                  <a:lnTo>
                    <a:pt x="388016" y="0"/>
                  </a:lnTo>
                  <a:cubicBezTo>
                    <a:pt x="427740" y="0"/>
                    <a:pt x="459942" y="32203"/>
                    <a:pt x="459942" y="71927"/>
                  </a:cubicBezTo>
                  <a:lnTo>
                    <a:pt x="459942" y="538283"/>
                  </a:lnTo>
                  <a:cubicBezTo>
                    <a:pt x="459942" y="557359"/>
                    <a:pt x="452364" y="575654"/>
                    <a:pt x="438876" y="589143"/>
                  </a:cubicBezTo>
                  <a:cubicBezTo>
                    <a:pt x="425387" y="602632"/>
                    <a:pt x="407092" y="610210"/>
                    <a:pt x="388016" y="610210"/>
                  </a:cubicBezTo>
                  <a:lnTo>
                    <a:pt x="71927" y="610210"/>
                  </a:lnTo>
                  <a:cubicBezTo>
                    <a:pt x="52850" y="610210"/>
                    <a:pt x="34556" y="602632"/>
                    <a:pt x="21067" y="589143"/>
                  </a:cubicBezTo>
                  <a:cubicBezTo>
                    <a:pt x="7578" y="575654"/>
                    <a:pt x="0" y="557359"/>
                    <a:pt x="0" y="538283"/>
                  </a:cubicBezTo>
                  <a:lnTo>
                    <a:pt x="0" y="71927"/>
                  </a:lnTo>
                  <a:cubicBezTo>
                    <a:pt x="0" y="52850"/>
                    <a:pt x="7578" y="34556"/>
                    <a:pt x="21067" y="21067"/>
                  </a:cubicBezTo>
                  <a:cubicBezTo>
                    <a:pt x="34556" y="7578"/>
                    <a:pt x="52850" y="0"/>
                    <a:pt x="71927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570F69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459942" cy="667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2700000">
            <a:off x="14658607" y="1672825"/>
            <a:ext cx="2266649" cy="2266649"/>
            <a:chOff x="0" y="0"/>
            <a:chExt cx="3022198" cy="3022198"/>
          </a:xfrm>
        </p:grpSpPr>
        <p:grpSp>
          <p:nvGrpSpPr>
            <p:cNvPr name="Group 34" id="34"/>
            <p:cNvGrpSpPr>
              <a:grpSpLocks noChangeAspect="true"/>
            </p:cNvGrpSpPr>
            <p:nvPr/>
          </p:nvGrpSpPr>
          <p:grpSpPr>
            <a:xfrm rot="5400000">
              <a:off x="0" y="0"/>
              <a:ext cx="3022198" cy="3022198"/>
              <a:chOff x="0" y="0"/>
              <a:chExt cx="14400530" cy="1440053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4400530" cy="14399261"/>
              </a:xfrm>
              <a:custGeom>
                <a:avLst/>
                <a:gdLst/>
                <a:ahLst/>
                <a:cxnLst/>
                <a:rect r="r" b="b" t="t" l="l"/>
                <a:pathLst>
                  <a:path h="14399261" w="14400530">
                    <a:moveTo>
                      <a:pt x="7199630" y="0"/>
                    </a:moveTo>
                    <a:cubicBezTo>
                      <a:pt x="3223260" y="0"/>
                      <a:pt x="0" y="3223260"/>
                      <a:pt x="0" y="7199630"/>
                    </a:cubicBezTo>
                    <a:cubicBezTo>
                      <a:pt x="0" y="11176001"/>
                      <a:pt x="3223260" y="14399261"/>
                      <a:pt x="7199630" y="14399261"/>
                    </a:cubicBezTo>
                    <a:lnTo>
                      <a:pt x="14399261" y="14399261"/>
                    </a:lnTo>
                    <a:lnTo>
                      <a:pt x="14399261" y="7199630"/>
                    </a:lnTo>
                    <a:cubicBezTo>
                      <a:pt x="14400530" y="3223260"/>
                      <a:pt x="11176000" y="0"/>
                      <a:pt x="7199630" y="0"/>
                    </a:cubicBezTo>
                    <a:close/>
                  </a:path>
                </a:pathLst>
              </a:custGeom>
              <a:solidFill>
                <a:srgbClr val="570F69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350709" y="418407"/>
              <a:ext cx="2277383" cy="2277383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</p:grpSp>
      <p:sp>
        <p:nvSpPr>
          <p:cNvPr name="Freeform 39" id="39"/>
          <p:cNvSpPr/>
          <p:nvPr/>
        </p:nvSpPr>
        <p:spPr>
          <a:xfrm flipH="false" flipV="false" rot="0">
            <a:off x="2554200" y="2346218"/>
            <a:ext cx="1011130" cy="1011130"/>
          </a:xfrm>
          <a:custGeom>
            <a:avLst/>
            <a:gdLst/>
            <a:ahLst/>
            <a:cxnLst/>
            <a:rect r="r" b="b" t="t" l="l"/>
            <a:pathLst>
              <a:path h="1011130" w="1011130">
                <a:moveTo>
                  <a:pt x="0" y="0"/>
                </a:moveTo>
                <a:lnTo>
                  <a:pt x="1011130" y="0"/>
                </a:lnTo>
                <a:lnTo>
                  <a:pt x="1011130" y="1011130"/>
                </a:lnTo>
                <a:lnTo>
                  <a:pt x="0" y="10111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2131566" y="2658354"/>
            <a:ext cx="1247887" cy="307721"/>
          </a:xfrm>
          <a:custGeom>
            <a:avLst/>
            <a:gdLst/>
            <a:ahLst/>
            <a:cxnLst/>
            <a:rect r="r" b="b" t="t" l="l"/>
            <a:pathLst>
              <a:path h="307721" w="1247887">
                <a:moveTo>
                  <a:pt x="0" y="0"/>
                </a:moveTo>
                <a:lnTo>
                  <a:pt x="1247888" y="0"/>
                </a:lnTo>
                <a:lnTo>
                  <a:pt x="1247888" y="307721"/>
                </a:lnTo>
                <a:lnTo>
                  <a:pt x="0" y="3077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27999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2439564" y="2064584"/>
            <a:ext cx="1187540" cy="1187540"/>
          </a:xfrm>
          <a:custGeom>
            <a:avLst/>
            <a:gdLst/>
            <a:ahLst/>
            <a:cxnLst/>
            <a:rect r="r" b="b" t="t" l="l"/>
            <a:pathLst>
              <a:path h="1187540" w="1187540">
                <a:moveTo>
                  <a:pt x="0" y="0"/>
                </a:moveTo>
                <a:lnTo>
                  <a:pt x="1187540" y="0"/>
                </a:lnTo>
                <a:lnTo>
                  <a:pt x="1187540" y="1187540"/>
                </a:lnTo>
                <a:lnTo>
                  <a:pt x="0" y="11875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6515259" y="2126786"/>
            <a:ext cx="1198545" cy="1264219"/>
          </a:xfrm>
          <a:custGeom>
            <a:avLst/>
            <a:gdLst/>
            <a:ahLst/>
            <a:cxnLst/>
            <a:rect r="r" b="b" t="t" l="l"/>
            <a:pathLst>
              <a:path h="1264219" w="1198545">
                <a:moveTo>
                  <a:pt x="0" y="0"/>
                </a:moveTo>
                <a:lnTo>
                  <a:pt x="1198545" y="0"/>
                </a:lnTo>
                <a:lnTo>
                  <a:pt x="1198545" y="1264219"/>
                </a:lnTo>
                <a:lnTo>
                  <a:pt x="0" y="1264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446136" y="2175420"/>
            <a:ext cx="1460784" cy="1076705"/>
          </a:xfrm>
          <a:custGeom>
            <a:avLst/>
            <a:gdLst/>
            <a:ahLst/>
            <a:cxnLst/>
            <a:rect r="r" b="b" t="t" l="l"/>
            <a:pathLst>
              <a:path h="1076705" w="1460784">
                <a:moveTo>
                  <a:pt x="0" y="0"/>
                </a:moveTo>
                <a:lnTo>
                  <a:pt x="1460784" y="0"/>
                </a:lnTo>
                <a:lnTo>
                  <a:pt x="1460784" y="1076704"/>
                </a:lnTo>
                <a:lnTo>
                  <a:pt x="0" y="10767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434" t="0" r="-7434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5274856" y="2241819"/>
            <a:ext cx="1034152" cy="1034152"/>
          </a:xfrm>
          <a:custGeom>
            <a:avLst/>
            <a:gdLst/>
            <a:ahLst/>
            <a:cxnLst/>
            <a:rect r="r" b="b" t="t" l="l"/>
            <a:pathLst>
              <a:path h="1034152" w="1034152">
                <a:moveTo>
                  <a:pt x="0" y="0"/>
                </a:moveTo>
                <a:lnTo>
                  <a:pt x="1034152" y="0"/>
                </a:lnTo>
                <a:lnTo>
                  <a:pt x="1034152" y="1034152"/>
                </a:lnTo>
                <a:lnTo>
                  <a:pt x="0" y="10341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085444" y="710514"/>
            <a:ext cx="16230600" cy="84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3"/>
              </a:lnSpc>
            </a:pPr>
            <a:r>
              <a:rPr lang="en-US" sz="6177" spc="19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ACCI</a:t>
            </a:r>
            <a:r>
              <a:rPr lang="en-US" sz="6177" spc="19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ONES A IMPLEMENTAR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18399" y="4537881"/>
            <a:ext cx="3827291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-59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Plan crecimiento y desarrollo profesional 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1085444" y="5888472"/>
            <a:ext cx="3203805" cy="338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mplementar programas de capacitación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Reclutar internamente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Realizar evaluaciones de desempeño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108426" y="4591168"/>
            <a:ext cx="3827291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-59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Plan de revisión de política salarial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83373" y="4554337"/>
            <a:ext cx="3543174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-59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Plan de</a:t>
            </a:r>
          </a:p>
          <a:p>
            <a:pPr algn="ctr">
              <a:lnSpc>
                <a:spcPts val="3640"/>
              </a:lnSpc>
            </a:pPr>
            <a:r>
              <a:rPr lang="en-US" b="true" sz="2600" spc="-59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 bienestar </a:t>
            </a:r>
          </a:p>
          <a:p>
            <a:pPr algn="ctr">
              <a:lnSpc>
                <a:spcPts val="3640"/>
              </a:lnSpc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13675998" y="4591168"/>
            <a:ext cx="3827291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 spc="-59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Plan de </a:t>
            </a:r>
          </a:p>
          <a:p>
            <a:pPr algn="ctr">
              <a:lnSpc>
                <a:spcPts val="3640"/>
              </a:lnSpc>
            </a:pPr>
            <a:r>
              <a:rPr lang="en-US" b="true" sz="2600" spc="-59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Identificación de </a:t>
            </a:r>
          </a:p>
          <a:p>
            <a:pPr algn="ctr">
              <a:lnSpc>
                <a:spcPts val="3640"/>
              </a:lnSpc>
            </a:pPr>
            <a:r>
              <a:rPr lang="en-US" b="true" sz="2600" spc="-59">
                <a:solidFill>
                  <a:srgbClr val="000000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riesgo de salida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29669" y="5872015"/>
            <a:ext cx="3238488" cy="338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Ajus</a:t>
            </a: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tar las remuneraciones 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</a:t>
            </a: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entar un plan de incentivos 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</a:t>
            </a: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ementar una equidad salarial interna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516861" y="5872015"/>
            <a:ext cx="3609686" cy="338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Fomen</a:t>
            </a: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tar el sentido de pertenencia  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Ejecució</a:t>
            </a: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de talleres de desarrollo profesional</a:t>
            </a:r>
          </a:p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econocer públicamente los logros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098914" y="5963403"/>
            <a:ext cx="3160386" cy="296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6032" indent="-273016" lvl="1">
              <a:lnSpc>
                <a:spcPts val="3363"/>
              </a:lnSpc>
              <a:buFont typeface="Arial"/>
              <a:buChar char="•"/>
            </a:pP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</a:t>
            </a: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 alertas preventivas y entrevistas periódicas con los e</a:t>
            </a: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mpleados </a:t>
            </a:r>
            <a:r>
              <a:rPr lang="en-US" sz="25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riesgo.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575" y="1028700"/>
            <a:ext cx="15562849" cy="8179961"/>
            <a:chOff x="0" y="0"/>
            <a:chExt cx="5796956" cy="30469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96955" cy="3046927"/>
            </a:xfrm>
            <a:custGeom>
              <a:avLst/>
              <a:gdLst/>
              <a:ahLst/>
              <a:cxnLst/>
              <a:rect r="r" b="b" t="t" l="l"/>
              <a:pathLst>
                <a:path h="3046927" w="5796955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5796956" cy="3037402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794973" y="5188925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30728" y="1773727"/>
            <a:ext cx="15103207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9"/>
              </a:lnSpc>
            </a:pPr>
            <a:r>
              <a:rPr lang="en-US" sz="76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650269" y="3030971"/>
            <a:ext cx="13883666" cy="6995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129" indent="-311064" lvl="1">
              <a:lnSpc>
                <a:spcPts val="4034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resultados obtenidos muestran avances significativos en algunos aspectos, sin embargo, se identifican oportunidades de mejora que requieren atención prioritaria para fortalecer la estabilidad, el compromiso y la productividad del personal. </a:t>
            </a:r>
          </a:p>
          <a:p>
            <a:pPr algn="l" marL="622129" indent="-311064" lvl="1">
              <a:lnSpc>
                <a:spcPts val="4034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nuestro análisis evidenciamos que la no-permanencia del personal está influida principalmente por desequilibrios salariales, falta de oportunidades de desarrollo y percepción de estancamiento. </a:t>
            </a:r>
          </a:p>
          <a:p>
            <a:pPr algn="l" marL="622129" indent="-311064" lvl="1">
              <a:lnSpc>
                <a:spcPts val="4034"/>
              </a:lnSpc>
              <a:buFont typeface="Arial"/>
              <a:buChar char="•"/>
            </a:pPr>
            <a:r>
              <a:rPr lang="en-US" sz="28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Una gestión proactiva del talento humano —centrada en la equidad, reconocimiento y crecimiento interno— será esencial para garantizar la sostenibilidad organizacional y reducir los índices de salida de los empleados a futuro. </a:t>
            </a:r>
          </a:p>
          <a:p>
            <a:pPr algn="ctr">
              <a:lnSpc>
                <a:spcPts val="3894"/>
              </a:lnSpc>
            </a:pPr>
          </a:p>
          <a:p>
            <a:pPr algn="ctr">
              <a:lnSpc>
                <a:spcPts val="3894"/>
              </a:lnSpc>
            </a:pPr>
          </a:p>
          <a:p>
            <a:pPr algn="ctr">
              <a:lnSpc>
                <a:spcPts val="3894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115119"/>
            <a:chOff x="0" y="0"/>
            <a:chExt cx="6045684" cy="30227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45684" cy="3022775"/>
            </a:xfrm>
            <a:custGeom>
              <a:avLst/>
              <a:gdLst/>
              <a:ahLst/>
              <a:cxnLst/>
              <a:rect r="r" b="b" t="t" l="l"/>
              <a:pathLst>
                <a:path h="3022775" w="6045684">
                  <a:moveTo>
                    <a:pt x="0" y="0"/>
                  </a:moveTo>
                  <a:lnTo>
                    <a:pt x="6045684" y="0"/>
                  </a:lnTo>
                  <a:lnTo>
                    <a:pt x="6045684" y="3022775"/>
                  </a:lnTo>
                  <a:lnTo>
                    <a:pt x="0" y="30227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045684" cy="3022775"/>
            </a:xfrm>
            <a:prstGeom prst="rect">
              <a:avLst/>
            </a:prstGeom>
          </p:spPr>
          <p:txBody>
            <a:bodyPr anchor="ctr" rtlCol="false" tIns="48876" lIns="48876" bIns="48876" rIns="48876"/>
            <a:lstStyle/>
            <a:p>
              <a:pPr algn="ctr">
                <a:lnSpc>
                  <a:spcPts val="1813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118001" y="1688159"/>
            <a:ext cx="491457" cy="480734"/>
          </a:xfrm>
          <a:custGeom>
            <a:avLst/>
            <a:gdLst/>
            <a:ahLst/>
            <a:cxnLst/>
            <a:rect r="r" b="b" t="t" l="l"/>
            <a:pathLst>
              <a:path h="480734" w="491457">
                <a:moveTo>
                  <a:pt x="0" y="0"/>
                </a:moveTo>
                <a:lnTo>
                  <a:pt x="491457" y="0"/>
                </a:lnTo>
                <a:lnTo>
                  <a:pt x="491457" y="480735"/>
                </a:lnTo>
                <a:lnTo>
                  <a:pt x="0" y="4807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18001" y="4941630"/>
            <a:ext cx="11119114" cy="182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8"/>
              </a:lnSpc>
            </a:pPr>
            <a:r>
              <a:rPr lang="en-US" sz="12099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676" y="3712404"/>
            <a:ext cx="11368329" cy="116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3"/>
              </a:lnSpc>
            </a:pPr>
            <a:r>
              <a:rPr lang="en-US" sz="77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MUCHAS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FF9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FF9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solidFill>
              <a:srgbClr val="782A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solidFill>
              <a:srgbClr val="782A8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DAG33TdPcFQ</dc:identifier>
  <dcterms:modified xsi:type="dcterms:W3CDTF">2011-08-01T06:04:30Z</dcterms:modified>
  <cp:revision>1</cp:revision>
  <dc:title>Recursos Humanos</dc:title>
</cp:coreProperties>
</file>